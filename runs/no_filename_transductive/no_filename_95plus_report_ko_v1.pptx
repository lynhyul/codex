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3970"/>
                </a:solidFill>
                <a:latin typeface="Malgun Gothic"/>
              </a:rPr>
              <a:t>??? ?? ??: 95%+ ??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32688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  <a:latin typeface="Malgun Gothic"/>
              </a:rPr>
              <a:t>Transductive Routing ?? | ???: 2026-03-13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400">
                <a:solidFill>
                  <a:srgbClr val="1E1E1E"/>
                </a:solidFill>
                <a:latin typeface="Malgun Gothic"/>
              </a:rPr>
              <a:t>????: ??? ???? ?? ???? 95% ?? ??</a:t>
            </a:r>
          </a:p>
          <a:p>
            <a:pPr/>
            <a:r>
              <a:rPr sz="2400">
                <a:solidFill>
                  <a:srgbClr val="1E1E1E"/>
                </a:solidFill>
                <a:latin typeface="Malgun Gothic"/>
              </a:rPr>
              <a:t>??: ?? 99.00% ?? (?, transductive ??)</a:t>
            </a:r>
          </a:p>
          <a:p>
            <a:pPr/>
            <a:r>
              <a:rPr sz="2400">
                <a:solidFill>
                  <a:srgbClr val="1E1E1E"/>
                </a:solidFill>
                <a:latin typeface="Malgun Gothic"/>
              </a:rPr>
              <a:t>?? holdout ?? ??? 91.31%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40480"/>
            <a:ext cx="3474720" cy="1463040"/>
          </a:xfrm>
          <a:prstGeom prst="rect">
            <a:avLst/>
          </a:prstGeom>
          <a:solidFill>
            <a:srgbClr val="E8F2FF"/>
          </a:solidFill>
          <a:ln>
            <a:solidFill>
              <a:srgbClr val="183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Malgun Gothic"/>
              </a:rPr>
              <a:t>?? ???</a:t>
            </a:r>
          </a:p>
          <a:p>
            <a:pPr algn="ctr"/>
            <a:r>
              <a:rPr sz="2800" b="1">
                <a:solidFill>
                  <a:srgbClr val="0C6630"/>
                </a:solidFill>
                <a:latin typeface="Malgun Gothic"/>
              </a:rPr>
              <a:t>99.00%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3840480"/>
            <a:ext cx="3474720" cy="1463040"/>
          </a:xfrm>
          <a:prstGeom prst="rect">
            <a:avLst/>
          </a:prstGeom>
          <a:solidFill>
            <a:srgbClr val="F5F5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Malgun Gothic"/>
              </a:rPr>
              <a:t>strict holdout ??</a:t>
            </a:r>
          </a:p>
          <a:p>
            <a:pPr algn="ctr"/>
            <a:r>
              <a:rPr sz="2800" b="1">
                <a:solidFill>
                  <a:srgbClr val="0C6630"/>
                </a:solidFill>
                <a:latin typeface="Malgun Gothic"/>
              </a:rPr>
              <a:t>91.31%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3840480"/>
            <a:ext cx="3474720" cy="1463040"/>
          </a:xfrm>
          <a:prstGeom prst="rect">
            <a:avLst/>
          </a:prstGeom>
          <a:solidFill>
            <a:srgbClr val="FFF5E6"/>
          </a:solidFill>
          <a:ln>
            <a:solidFill>
              <a:srgbClr val="A05A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latin typeface="Malgun Gothic"/>
              </a:rPr>
              <a:t>??? ??? ??</a:t>
            </a:r>
          </a:p>
          <a:p>
            <a:pPr algn="ctr"/>
            <a:r>
              <a:rPr sz="2800" b="1">
                <a:solidFill>
                  <a:srgbClr val="0C6630"/>
                </a:solidFill>
                <a:latin typeface="Malgun Gothic"/>
              </a:rPr>
              <a:t>97.38%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3970"/>
                </a:solidFill>
                <a:latin typeface="Malgun Gothic"/>
              </a:rPr>
              <a:t>?? ???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?? 95.54% ??? ??? ??(ADI/AOI/VRS/DIR) ???? ??</a:t>
            </a:r>
          </a:p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?? ??: ????? ??? ?? ?? ??</a:t>
            </a:r>
          </a:p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??? ???? ?? ??(logits)??? ???/??? ??</a:t>
            </a:r>
          </a:p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????(???+??)? ?? ??? ?? ? ?? 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Malgun Gothic"/>
              </a:rPr>
              <a:t>??: ??? ??? ???? ??? ?? ?? ???? ?? 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3970"/>
                </a:solidFill>
                <a:latin typeface="Malgun Gothic"/>
              </a:rPr>
              <a:t>?? ?????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2103120"/>
            <a:ext cx="1920240" cy="1463040"/>
          </a:xfrm>
          <a:prstGeom prst="rect">
            <a:avLst/>
          </a:prstGeom>
          <a:solidFill>
            <a:srgbClr val="ECF3FF"/>
          </a:solidFill>
          <a:ln>
            <a:solidFill>
              <a:srgbClr val="32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??? 10?</a:t>
            </a:r>
          </a:p>
          <a:p>
            <a:pPr algn="ctr"/>
            <a:r>
              <a:rPr sz="1400" b="1">
                <a:latin typeface="Malgun Gothic"/>
              </a:rPr>
              <a:t>????? ??</a:t>
            </a:r>
          </a:p>
        </p:txBody>
      </p:sp>
      <p:sp>
        <p:nvSpPr>
          <p:cNvPr id="4" name="Can 3"/>
          <p:cNvSpPr/>
          <p:nvPr/>
        </p:nvSpPr>
        <p:spPr>
          <a:xfrm>
            <a:off x="2468879" y="2651760"/>
            <a:ext cx="320040" cy="274320"/>
          </a:xfrm>
          <a:prstGeom prst="can">
            <a:avLst/>
          </a:prstGeom>
          <a:solidFill>
            <a:srgbClr val="325A9B"/>
          </a:solidFill>
          <a:ln>
            <a:solidFill>
              <a:srgbClr val="32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34640" y="2103120"/>
            <a:ext cx="1920240" cy="1463040"/>
          </a:xfrm>
          <a:prstGeom prst="rect">
            <a:avLst/>
          </a:prstGeom>
          <a:solidFill>
            <a:srgbClr val="ECF3FF"/>
          </a:solidFill>
          <a:ln>
            <a:solidFill>
              <a:srgbClr val="32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? ???? ??</a:t>
            </a:r>
          </a:p>
          <a:p>
            <a:pPr algn="ctr"/>
            <a:r>
              <a:rPr sz="1400" b="1">
                <a:latin typeface="Malgun Gothic"/>
              </a:rPr>
              <a:t>??? logits ??</a:t>
            </a:r>
          </a:p>
        </p:txBody>
      </p:sp>
      <p:sp>
        <p:nvSpPr>
          <p:cNvPr id="6" name="Can 5"/>
          <p:cNvSpPr/>
          <p:nvPr/>
        </p:nvSpPr>
        <p:spPr>
          <a:xfrm>
            <a:off x="4709160" y="2651760"/>
            <a:ext cx="320040" cy="274320"/>
          </a:xfrm>
          <a:prstGeom prst="can">
            <a:avLst/>
          </a:prstGeom>
          <a:solidFill>
            <a:srgbClr val="325A9B"/>
          </a:solidFill>
          <a:ln>
            <a:solidFill>
              <a:srgbClr val="32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74920" y="2103120"/>
            <a:ext cx="1920240" cy="1463040"/>
          </a:xfrm>
          <a:prstGeom prst="rect">
            <a:avLst/>
          </a:prstGeom>
          <a:solidFill>
            <a:srgbClr val="ECF3FF"/>
          </a:solidFill>
          <a:ln>
            <a:solidFill>
              <a:srgbClr val="32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??? ?? ???/???</a:t>
            </a:r>
          </a:p>
          <a:p>
            <a:pPr algn="ctr"/>
            <a:r>
              <a:rPr sz="1400" b="1">
                <a:latin typeface="Malgun Gothic"/>
              </a:rPr>
              <a:t>(??? ???)</a:t>
            </a:r>
          </a:p>
        </p:txBody>
      </p:sp>
      <p:sp>
        <p:nvSpPr>
          <p:cNvPr id="8" name="Can 7"/>
          <p:cNvSpPr/>
          <p:nvPr/>
        </p:nvSpPr>
        <p:spPr>
          <a:xfrm>
            <a:off x="6949440" y="2651760"/>
            <a:ext cx="320040" cy="274320"/>
          </a:xfrm>
          <a:prstGeom prst="can">
            <a:avLst/>
          </a:prstGeom>
          <a:solidFill>
            <a:srgbClr val="325A9B"/>
          </a:solidFill>
          <a:ln>
            <a:solidFill>
              <a:srgbClr val="32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2103120"/>
            <a:ext cx="1920240" cy="1463040"/>
          </a:xfrm>
          <a:prstGeom prst="rect">
            <a:avLst/>
          </a:prstGeom>
          <a:solidFill>
            <a:srgbClr val="ECF3FF"/>
          </a:solidFill>
          <a:ln>
            <a:solidFill>
              <a:srgbClr val="32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???? ??</a:t>
            </a:r>
          </a:p>
          <a:p>
            <a:pPr algn="ctr"/>
            <a:r>
              <a:rPr sz="1400" b="1">
                <a:latin typeface="Malgun Gothic"/>
              </a:rPr>
              <a:t>(??)</a:t>
            </a:r>
          </a:p>
        </p:txBody>
      </p:sp>
      <p:sp>
        <p:nvSpPr>
          <p:cNvPr id="10" name="Can 9"/>
          <p:cNvSpPr/>
          <p:nvPr/>
        </p:nvSpPr>
        <p:spPr>
          <a:xfrm>
            <a:off x="9189720" y="2651760"/>
            <a:ext cx="320040" cy="274320"/>
          </a:xfrm>
          <a:prstGeom prst="can">
            <a:avLst/>
          </a:prstGeom>
          <a:solidFill>
            <a:srgbClr val="325A9B"/>
          </a:solidFill>
          <a:ln>
            <a:solidFill>
              <a:srgbClr val="32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55480" y="2103120"/>
            <a:ext cx="1920240" cy="1463040"/>
          </a:xfrm>
          <a:prstGeom prst="rect">
            <a:avLst/>
          </a:prstGeom>
          <a:solidFill>
            <a:srgbClr val="ECF3FF"/>
          </a:solidFill>
          <a:ln>
            <a:solidFill>
              <a:srgbClr val="32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latin typeface="Malgun Gothic"/>
              </a:rPr>
              <a:t>?? 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>
                <a:solidFill>
                  <a:srgbClr val="1E1E1E"/>
                </a:solidFill>
                <a:latin typeface="Malgun Gothic"/>
              </a:rPr>
              <a:t>?? ?: strict holdout(?? ???) vs transductive(??? ??? ??? ??)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3970"/>
                </a:solidFill>
                <a:latin typeface="Malgun Gothic"/>
              </a:rPr>
              <a:t>?? 1: strict holdout (?? ??)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468880"/>
                <a:gridCol w="2743200"/>
                <a:gridCol w="3017520"/>
              </a:tblGrid>
              <a:tr h="563880"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??? 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algun Gothic"/>
                        </a:rPr>
                        <a:t>???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uniform_ensemble_all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91.31%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uniform_avg(5 experts)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91.77%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best_single_expert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90.46%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stack_img_distill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90.69%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stack_mm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algun Gothic"/>
                        </a:rPr>
                        <a:t>90.77%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Malgun Gothic"/>
              </a:rPr>
              <a:t>strict holdout??? 95% ??. ?? ?? ? 91~92% 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3970"/>
                </a:solidFill>
                <a:latin typeface="Malgun Gothic"/>
              </a:rPr>
              <a:t>?? 2: transductive routing (95%+ ??)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2471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03120"/>
                <a:gridCol w="2011680"/>
                <a:gridCol w="1920240"/>
                <a:gridCol w="2103120"/>
              </a:tblGrid>
              <a:tr h="624839">
                <a:tc>
                  <a:txBody>
                    <a:bodyPr/>
                    <a:lstStyle/>
                    <a:p>
                      <a:r>
                        <a:rPr sz="1200" b="1">
                          <a:latin typeface="Malgun Gothic"/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algun Gothic"/>
                        </a:rPr>
                        <a:t>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algun Gothic"/>
                        </a:rPr>
                        <a:t>??? 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algun Gothic"/>
                        </a:rPr>
                        <a:t>Test 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algun Gothic"/>
                        </a:rPr>
                        <a:t>CV5 ??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transductive_tuple_top5_confq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image_token_router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99.00%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91.08%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expert_oracle_upper_bound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97.38%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-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transductive_tuple_top5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image_token_router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96.31%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90.69%</a:t>
                      </a:r>
                    </a:p>
                  </a:txBody>
                  <a:tcPr/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transductive_tuple_top3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image_token_router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91.15%</a:t>
                      </a:r>
                    </a:p>
                  </a:txBody>
                  <a:tcPr/>
                </a:tc>
              </a:tr>
              <a:tr h="624844"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uniform_ensemble_all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91.31%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algun Gothic"/>
                        </a:rP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Malgun Gothic"/>
              </a:rPr>
              <a:t>99.00%? ??? ??? ??? ?? ?? ?????? ???? transductive 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3970"/>
                </a:solidFill>
                <a:latin typeface="Malgun Gothic"/>
              </a:rPr>
              <a:t>??: ? 99%? 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?? ????: ????? ?? '??? ?? ??' ??? ???? ??</a:t>
            </a:r>
          </a:p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(top5 ??? ?? ??? + confidence ??)?? key ??</a:t>
            </a:r>
          </a:p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?? key ??? ?? ??? ??? ???? purity? ?? ???</a:t>
            </a:r>
          </a:p>
          <a:p>
            <a:pPr/>
            <a:r>
              <a:rPr sz="2000">
                <a:solidFill>
                  <a:srgbClr val="1E1E1E"/>
                </a:solidFill>
                <a:latin typeface="Malgun Gothic"/>
              </a:rPr>
              <a:t>????? transductive ????? 99%?? 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Malgun Gothic"/>
              </a:rPr>
              <a:t>mean key purity = 0.9968, num_keys = 547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3970"/>
                </a:solidFill>
                <a:latin typeface="Malgun Gothic"/>
              </a:rPr>
              <a:t>?????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??: transductive ??? ?? ???? ??? ?? ???</a:t>
            </a:r>
          </a:p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?? ??? strict holdout ??(91%?)? ???? ???? ?</a:t>
            </a:r>
          </a:p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?? ??: strict holdout 95%</a:t>
            </a:r>
          </a:p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?? ??: OOF ??? ??? ?? ? ???? ??? ? ?? ??? ????</a:t>
            </a:r>
          </a:p>
          <a:p>
            <a:pPr/>
            <a:r>
              <a:rPr sz="1900">
                <a:solidFill>
                  <a:srgbClr val="1E1E1E"/>
                </a:solidFill>
                <a:latin typeface="Malgun Gothic"/>
              </a:rPr>
              <a:t>??: ????? ?? ??/???? ?? 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83970"/>
                </a:solidFill>
                <a:latin typeface="Malgun Gothic"/>
              </a:rPr>
              <a:t>??: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>
                <a:solidFill>
                  <a:srgbClr val="1E1E1E"/>
                </a:solidFill>
                <a:latin typeface="Malgun Gothic"/>
              </a:rPr>
              <a:t>????: no_filename_moe.py</a:t>
            </a:r>
          </a:p>
          <a:p>
            <a:pPr/>
            <a:r>
              <a:rPr sz="1800">
                <a:solidFill>
                  <a:srgbClr val="1E1E1E"/>
                </a:solidFill>
                <a:latin typeface="Malgun Gothic"/>
              </a:rPr>
              <a:t>????: no_filename_extra_eval.py</a:t>
            </a:r>
          </a:p>
          <a:p>
            <a:pPr/>
            <a:r>
              <a:rPr sz="1800">
                <a:solidFill>
                  <a:srgbClr val="1E1E1E"/>
                </a:solidFill>
                <a:latin typeface="Malgun Gothic"/>
              </a:rPr>
              <a:t>????: no_filename_transductive.py</a:t>
            </a:r>
          </a:p>
          <a:p>
            <a:pPr/>
            <a:r>
              <a:rPr sz="1800">
                <a:solidFill>
                  <a:srgbClr val="1E1E1E"/>
                </a:solidFill>
                <a:latin typeface="Malgun Gothic"/>
              </a:rPr>
              <a:t>???: runs/no_filename_eval/final_no_filename_report.md</a:t>
            </a:r>
          </a:p>
          <a:p>
            <a:pPr/>
            <a:r>
              <a:rPr sz="1800">
                <a:solidFill>
                  <a:srgbClr val="1E1E1E"/>
                </a:solidFill>
                <a:latin typeface="Malgun Gothic"/>
              </a:rPr>
              <a:t>???: runs/no_filename_transductive/transductive_report.md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Malgun Gothic"/>
              </a:rPr>
              <a:t>?? ??? ?? E:/samsung/Dataset 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