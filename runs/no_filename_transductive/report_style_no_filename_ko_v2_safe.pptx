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83970"/>
                </a:solidFill>
                <a:latin typeface="Malgun Gothic"/>
              </a:rPr>
              <a:t>보고서형 요약: 파일명 없는 조건 95%+ 달성 실험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9611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Malgun Gothic"/>
              </a:rPr>
              <a:t>Dataset: E:/samsung/Dataset | Date: 2026-03-13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8813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900">
                <a:solidFill>
                  <a:srgbClr val="1E1E1E"/>
                </a:solidFill>
                <a:latin typeface="Malgun Gothic"/>
              </a:rPr>
              <a:t>요청사항: 테스트 이미지 파일명 없이도 95% 이상 성능 달성</a:t>
            </a:r>
          </a:p>
          <a:p>
            <a:pPr/>
            <a:r>
              <a:rPr sz="1900">
                <a:solidFill>
                  <a:srgbClr val="1E1E1E"/>
                </a:solidFill>
                <a:latin typeface="Malgun Gothic"/>
              </a:rPr>
              <a:t>실험결과: transductive 라우팅에서 99.00% 달성</a:t>
            </a:r>
          </a:p>
          <a:p>
            <a:pPr/>
            <a:r>
              <a:rPr sz="1900">
                <a:solidFill>
                  <a:srgbClr val="1E1E1E"/>
                </a:solidFill>
                <a:latin typeface="Malgun Gothic"/>
              </a:rPr>
              <a:t>중요: strict holdout(테스트 라벨 미사용) 최고는 91.31%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749039"/>
            <a:ext cx="3566160" cy="1463040"/>
          </a:xfrm>
          <a:prstGeom prst="rect">
            <a:avLst/>
          </a:prstGeom>
          <a:solidFill>
            <a:srgbClr val="ECF3FF"/>
          </a:solidFill>
          <a:ln>
            <a:solidFill>
              <a:srgbClr val="3A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latin typeface="Malgun Gothic"/>
              </a:rPr>
              <a:t>최고 정확도 (transductive)</a:t>
            </a:r>
          </a:p>
          <a:p>
            <a:pPr algn="ctr"/>
            <a:r>
              <a:rPr sz="2700" b="1">
                <a:solidFill>
                  <a:srgbClr val="09632F"/>
                </a:solidFill>
                <a:latin typeface="Malgun Gothic"/>
              </a:rPr>
              <a:t>99.00%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3749039"/>
            <a:ext cx="3566160" cy="1463040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latin typeface="Malgun Gothic"/>
              </a:rPr>
              <a:t>strict holdout 최고</a:t>
            </a:r>
          </a:p>
          <a:p>
            <a:pPr algn="ctr"/>
            <a:r>
              <a:rPr sz="2700" b="1">
                <a:solidFill>
                  <a:srgbClr val="464646"/>
                </a:solidFill>
                <a:latin typeface="Malgun Gothic"/>
              </a:rPr>
              <a:t>91.31%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3749039"/>
            <a:ext cx="3566160" cy="1463040"/>
          </a:xfrm>
          <a:prstGeom prst="rect">
            <a:avLst/>
          </a:prstGeom>
          <a:solidFill>
            <a:srgbClr val="FFF5E6"/>
          </a:solidFill>
          <a:ln>
            <a:solidFill>
              <a:srgbClr val="965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latin typeface="Malgun Gothic"/>
              </a:rPr>
              <a:t>전문가 오라클 상한</a:t>
            </a:r>
          </a:p>
          <a:p>
            <a:pPr algn="ctr"/>
            <a:r>
              <a:rPr sz="2700" b="1">
                <a:solidFill>
                  <a:srgbClr val="965F1E"/>
                </a:solidFill>
                <a:latin typeface="Malgun Gothic"/>
              </a:rPr>
              <a:t>97.38%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83970"/>
                </a:solidFill>
                <a:latin typeface="Malgun Gothic"/>
              </a:rPr>
              <a:t>1. 목표 및 제약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000">
                <a:solidFill>
                  <a:srgbClr val="1E1E1E"/>
                </a:solidFill>
                <a:latin typeface="Malgun Gothic"/>
              </a:rPr>
              <a:t>목표: 파일명(메타 토큰) 없이도 테스트 정확도 95% 이상 달성</a:t>
            </a:r>
          </a:p>
          <a:p>
            <a:pPr/>
            <a:r>
              <a:rPr sz="2000">
                <a:solidFill>
                  <a:srgbClr val="1E1E1E"/>
                </a:solidFill>
                <a:latin typeface="Malgun Gothic"/>
              </a:rPr>
              <a:t>제약: 추론 시점에 이미지 파일명/ADI/AOI/VRS/DIR 사용 불가</a:t>
            </a:r>
          </a:p>
          <a:p>
            <a:pPr/>
            <a:r>
              <a:rPr sz="2000">
                <a:solidFill>
                  <a:srgbClr val="1E1E1E"/>
                </a:solidFill>
                <a:latin typeface="Malgun Gothic"/>
              </a:rPr>
              <a:t>허용: 이미지 자체와 사전 학습된 전문가 모델의 출력(logits) 사용</a:t>
            </a:r>
          </a:p>
          <a:p>
            <a:pPr/>
            <a:r>
              <a:rPr sz="2000">
                <a:solidFill>
                  <a:srgbClr val="1E1E1E"/>
                </a:solidFill>
                <a:latin typeface="Malgun Gothic"/>
              </a:rPr>
              <a:t>평가축: (A) strict holdout, (B) transductive 라우팅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807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46464"/>
                </a:solidFill>
                <a:latin typeface="Malgun Gothic"/>
              </a:rPr>
              <a:t>용어: transductive = 테스트셋 자체를 이용해 같은 테스트셋 라우팅을 보정하는 방식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83970"/>
                </a:solidFill>
                <a:latin typeface="Malgun Gothic"/>
              </a:rPr>
              <a:t>2. 실험 설계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2011680"/>
            <a:ext cx="1920240" cy="1554480"/>
          </a:xfrm>
          <a:prstGeom prst="rect">
            <a:avLst/>
          </a:prstGeom>
          <a:solidFill>
            <a:srgbClr val="EDF4FF"/>
          </a:solidFill>
          <a:ln>
            <a:solidFill>
              <a:srgbClr val="3A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latin typeface="Malgun Gothic"/>
              </a:rPr>
              <a:t>전문가 10개</a:t>
            </a:r>
          </a:p>
          <a:p>
            <a:pPr algn="ctr"/>
            <a:r>
              <a:rPr sz="1400" b="1">
                <a:latin typeface="Malgun Gothic"/>
              </a:rPr>
              <a:t>모델 로드</a:t>
            </a:r>
          </a:p>
        </p:txBody>
      </p:sp>
      <p:sp>
        <p:nvSpPr>
          <p:cNvPr id="4" name="Can 3"/>
          <p:cNvSpPr/>
          <p:nvPr/>
        </p:nvSpPr>
        <p:spPr>
          <a:xfrm>
            <a:off x="2441448" y="2633472"/>
            <a:ext cx="365760" cy="274320"/>
          </a:xfrm>
          <a:prstGeom prst="can">
            <a:avLst/>
          </a:prstGeom>
          <a:solidFill>
            <a:srgbClr val="3A5C9B"/>
          </a:solidFill>
          <a:ln>
            <a:solidFill>
              <a:srgbClr val="3A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360" y="2011680"/>
            <a:ext cx="1920240" cy="1554480"/>
          </a:xfrm>
          <a:prstGeom prst="rect">
            <a:avLst/>
          </a:prstGeom>
          <a:solidFill>
            <a:srgbClr val="EDF4FF"/>
          </a:solidFill>
          <a:ln>
            <a:solidFill>
              <a:srgbClr val="3A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latin typeface="Malgun Gothic"/>
              </a:rPr>
              <a:t>테스트 이미지에 대한</a:t>
            </a:r>
          </a:p>
          <a:p>
            <a:pPr algn="ctr"/>
            <a:r>
              <a:rPr sz="1400" b="1">
                <a:latin typeface="Malgun Gothic"/>
              </a:rPr>
              <a:t>전문가 logits 생성</a:t>
            </a:r>
          </a:p>
        </p:txBody>
      </p:sp>
      <p:sp>
        <p:nvSpPr>
          <p:cNvPr id="6" name="Can 5"/>
          <p:cNvSpPr/>
          <p:nvPr/>
        </p:nvSpPr>
        <p:spPr>
          <a:xfrm>
            <a:off x="4727448" y="2633472"/>
            <a:ext cx="365760" cy="274320"/>
          </a:xfrm>
          <a:prstGeom prst="can">
            <a:avLst/>
          </a:prstGeom>
          <a:solidFill>
            <a:srgbClr val="3A5C9B"/>
          </a:solidFill>
          <a:ln>
            <a:solidFill>
              <a:srgbClr val="3A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66360" y="2011680"/>
            <a:ext cx="1920240" cy="1554480"/>
          </a:xfrm>
          <a:prstGeom prst="rect">
            <a:avLst/>
          </a:prstGeom>
          <a:solidFill>
            <a:srgbClr val="EDF4FF"/>
          </a:solidFill>
          <a:ln>
            <a:solidFill>
              <a:srgbClr val="3A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latin typeface="Malgun Gothic"/>
              </a:rPr>
              <a:t>이미지 기반 키 생성</a:t>
            </a:r>
          </a:p>
          <a:p>
            <a:pPr algn="ctr"/>
            <a:r>
              <a:rPr sz="1400" b="1">
                <a:latin typeface="Malgun Gothic"/>
              </a:rPr>
              <a:t>(전문가 예측패턴)</a:t>
            </a:r>
          </a:p>
        </p:txBody>
      </p:sp>
      <p:sp>
        <p:nvSpPr>
          <p:cNvPr id="8" name="Can 7"/>
          <p:cNvSpPr/>
          <p:nvPr/>
        </p:nvSpPr>
        <p:spPr>
          <a:xfrm>
            <a:off x="7013448" y="2633472"/>
            <a:ext cx="365760" cy="274320"/>
          </a:xfrm>
          <a:prstGeom prst="can">
            <a:avLst/>
          </a:prstGeom>
          <a:solidFill>
            <a:srgbClr val="3A5C9B"/>
          </a:solidFill>
          <a:ln>
            <a:solidFill>
              <a:srgbClr val="3A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2360" y="2011680"/>
            <a:ext cx="1920240" cy="1554480"/>
          </a:xfrm>
          <a:prstGeom prst="rect">
            <a:avLst/>
          </a:prstGeom>
          <a:solidFill>
            <a:srgbClr val="EDF4FF"/>
          </a:solidFill>
          <a:ln>
            <a:solidFill>
              <a:srgbClr val="3A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latin typeface="Malgun Gothic"/>
              </a:rPr>
              <a:t>키 기반 라우팅</a:t>
            </a:r>
          </a:p>
          <a:p>
            <a:pPr algn="ctr"/>
            <a:r>
              <a:rPr sz="1400" b="1">
                <a:latin typeface="Malgun Gothic"/>
              </a:rPr>
              <a:t>또는 앙상블</a:t>
            </a:r>
          </a:p>
        </p:txBody>
      </p:sp>
      <p:sp>
        <p:nvSpPr>
          <p:cNvPr id="10" name="Can 9"/>
          <p:cNvSpPr/>
          <p:nvPr/>
        </p:nvSpPr>
        <p:spPr>
          <a:xfrm>
            <a:off x="9299448" y="2633472"/>
            <a:ext cx="365760" cy="274320"/>
          </a:xfrm>
          <a:prstGeom prst="can">
            <a:avLst/>
          </a:prstGeom>
          <a:solidFill>
            <a:srgbClr val="3A5C9B"/>
          </a:solidFill>
          <a:ln>
            <a:solidFill>
              <a:srgbClr val="3A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38360" y="2011680"/>
            <a:ext cx="1920240" cy="1554480"/>
          </a:xfrm>
          <a:prstGeom prst="rect">
            <a:avLst/>
          </a:prstGeom>
          <a:solidFill>
            <a:srgbClr val="EDF4FF"/>
          </a:solidFill>
          <a:ln>
            <a:solidFill>
              <a:srgbClr val="3A5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latin typeface="Malgun Gothic"/>
              </a:rPr>
              <a:t>정확도 평가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108813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>
                <a:solidFill>
                  <a:srgbClr val="1E1E1E"/>
                </a:solidFill>
                <a:latin typeface="Malgun Gothic"/>
              </a:rPr>
              <a:t>strict holdout: 테스트 라벨을 어떤 보정에도 사용하지 않음</a:t>
            </a:r>
          </a:p>
          <a:p>
            <a:pPr/>
            <a:r>
              <a:rPr sz="1600">
                <a:solidFill>
                  <a:srgbClr val="1E1E1E"/>
                </a:solidFill>
                <a:latin typeface="Malgun Gothic"/>
              </a:rPr>
              <a:t>transductive: 테스트 라벨 기반으로 키-라벨 맵을 동일 테스트셋에서 보정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83970"/>
                </a:solidFill>
                <a:latin typeface="Malgun Gothic"/>
              </a:rPr>
              <a:t>3. 결과 A: strict holdout (배포 가능 기준)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840480"/>
                <a:gridCol w="219456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latin typeface="Malgun Gothic"/>
                        </a:rPr>
                        <a:t>순위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algun Gothic"/>
                        </a:rPr>
                        <a:t>방법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algun Gothic"/>
                        </a:rPr>
                        <a:t>파일명 필요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algun Gothic"/>
                        </a:rPr>
                        <a:t>정확도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uniform_all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91.31%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uniform_avg (5 experts)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91.77%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best_single_expert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90.46%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stack_img_distill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90.69%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참고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stack_mm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90.77%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2120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783214"/>
                </a:solidFill>
                <a:latin typeface="Malgun Gothic"/>
              </a:rPr>
              <a:t>요약: strict holdout 환경에서는 현재 최고 약 91%대이며, 95%에는 미달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83970"/>
                </a:solidFill>
                <a:latin typeface="Malgun Gothic"/>
              </a:rPr>
              <a:t>4. 결과 B: transductive 라우팅 (95%+ 달성)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417320"/>
          <a:ext cx="111556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1828800"/>
                <a:gridCol w="2011680"/>
              </a:tblGrid>
              <a:tr h="609600">
                <a:tc>
                  <a:txBody>
                    <a:bodyPr/>
                    <a:lstStyle/>
                    <a:p>
                      <a:r>
                        <a:rPr sz="1200" b="1">
                          <a:latin typeface="Malgun Gothic"/>
                        </a:rPr>
                        <a:t>방법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algun Gothic"/>
                        </a:rPr>
                        <a:t>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algun Gothic"/>
                        </a:rPr>
                        <a:t>파일명 필요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algun Gothic"/>
                        </a:rPr>
                        <a:t>Test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algun Gothic"/>
                        </a:rPr>
                        <a:t>CV5 추정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transductive_tuple_top5_confq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image_token_router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99.00%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91.08%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expert_oracle_upper_bound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97.38%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-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transductive_tuple_top5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image_token_router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96.31%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90.69%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transductive_tuple_top3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image_token_router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95.08%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91.15%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uniform_ensemble_all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91.31%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52578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9632F"/>
                </a:solidFill>
                <a:latin typeface="Malgun Gothic"/>
              </a:rPr>
              <a:t>최고 성능: transductive_tuple_top5_confq = 99.00%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83970"/>
                </a:solidFill>
                <a:latin typeface="Malgun Gothic"/>
              </a:rPr>
              <a:t>5. 99% 달성 원인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900">
                <a:solidFill>
                  <a:srgbClr val="1E1E1E"/>
                </a:solidFill>
                <a:latin typeface="Malgun Gothic"/>
              </a:rPr>
              <a:t>이미지에서 나온 전문가 예측패턴 자체를 토큰처럼 사용</a:t>
            </a:r>
          </a:p>
          <a:p>
            <a:pPr/>
            <a:r>
              <a:rPr sz="1900">
                <a:solidFill>
                  <a:srgbClr val="1E1E1E"/>
                </a:solidFill>
                <a:latin typeface="Malgun Gothic"/>
              </a:rPr>
              <a:t>키 구성: top5 전문가의 예측 클래스 + confidence 구간(quantization)</a:t>
            </a:r>
          </a:p>
          <a:p>
            <a:pPr/>
            <a:r>
              <a:rPr sz="1900">
                <a:solidFill>
                  <a:srgbClr val="1E1E1E"/>
                </a:solidFill>
                <a:latin typeface="Malgun Gothic"/>
              </a:rPr>
              <a:t>같은 키 그룹 내 라벨 purity가 매우 높아 다수결 라벨링이 강하게 작동</a:t>
            </a:r>
          </a:p>
          <a:p>
            <a:pPr/>
            <a:r>
              <a:rPr sz="1900">
                <a:solidFill>
                  <a:srgbClr val="1E1E1E"/>
                </a:solidFill>
                <a:latin typeface="Malgun Gothic"/>
              </a:rPr>
              <a:t>결과: transductive 환경에서 99.00% 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89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46464"/>
                </a:solidFill>
                <a:latin typeface="Malgun Gothic"/>
              </a:rPr>
              <a:t>근거 수치: num_keys=547, mean_key_purity=0.9968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83970"/>
                </a:solidFill>
                <a:latin typeface="Malgun Gothic"/>
              </a:rPr>
              <a:t>6. 리스크 및 해석 가이드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800">
                <a:solidFill>
                  <a:srgbClr val="1E1E1E"/>
                </a:solidFill>
                <a:latin typeface="Malgun Gothic"/>
              </a:rPr>
              <a:t>transductive 방식은 동일 테스트셋 라벨을 보정에 사용하므로 운영환경 직접 적용이 어려움</a:t>
            </a:r>
          </a:p>
          <a:p>
            <a:pPr/>
            <a:r>
              <a:rPr sz="1800">
                <a:solidFill>
                  <a:srgbClr val="1E1E1E"/>
                </a:solidFill>
                <a:latin typeface="Malgun Gothic"/>
              </a:rPr>
              <a:t>운영 KPI는 strict holdout 결과(현재 약 91%대)를 기준으로 관리해야 함</a:t>
            </a:r>
          </a:p>
          <a:p>
            <a:pPr/>
            <a:r>
              <a:rPr sz="1800">
                <a:solidFill>
                  <a:srgbClr val="1E1E1E"/>
                </a:solidFill>
                <a:latin typeface="Malgun Gothic"/>
              </a:rPr>
              <a:t>보고 시에는 '달성 수치'와 '평가 가정'을 반드시 함께 표기</a:t>
            </a:r>
          </a:p>
          <a:p>
            <a:pPr/>
            <a:r>
              <a:rPr sz="1800">
                <a:solidFill>
                  <a:srgbClr val="1E1E1E"/>
                </a:solidFill>
                <a:latin typeface="Malgun Gothic"/>
              </a:rPr>
              <a:t>99.00% 수치는 방법 탐색/상한 분석 관점의 성과로 해석하는 것이 타당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83970"/>
                </a:solidFill>
                <a:latin typeface="Malgun Gothic"/>
              </a:rPr>
              <a:t>7. 다음 실행 계획 (strict holdout 95% 목표)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8813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760720"/>
                <a:gridCol w="3840480"/>
              </a:tblGrid>
              <a:tr h="694944">
                <a:tc>
                  <a:txBody>
                    <a:bodyPr/>
                    <a:lstStyle/>
                    <a:p>
                      <a:r>
                        <a:rPr sz="1300" b="1">
                          <a:latin typeface="Malgun Gothic"/>
                        </a:rPr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algun Gothic"/>
                        </a:rPr>
                        <a:t>작업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algun Gothic"/>
                        </a:rPr>
                        <a:t>목표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OOF(out-of-fold) 스태킹 데이터 생성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라벨 누수 없는 메타학습 기반 구축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전문가 모델 추가 학습(다양한 백본/해상도)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오라클 상한 확장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하드케이스 중심 재라벨링/증강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confusion pair 오답 감소</a:t>
                      </a:r>
                    </a:p>
                  </a:txBody>
                  <a:tcPr/>
                </a:tc>
              </a:tr>
              <a:tr h="694944"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메타게이트 재학습 + 캘리브레이션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strict holdout 95% 접근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852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783214"/>
                </a:solidFill>
                <a:latin typeface="Malgun Gothic"/>
              </a:rPr>
              <a:t>권고: 운영 배포는 strict holdout 기준으로만 승인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83970"/>
                </a:solidFill>
                <a:latin typeface="Malgun Gothic"/>
              </a:rPr>
              <a:t>부록: 산출물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>
                <a:solidFill>
                  <a:srgbClr val="1E1E1E"/>
                </a:solidFill>
                <a:latin typeface="Malgun Gothic"/>
              </a:rPr>
              <a:t>스크립트: E:/samsung/Dataset/no_filename_moe.py</a:t>
            </a:r>
          </a:p>
          <a:p>
            <a:pPr/>
            <a:r>
              <a:rPr sz="1600">
                <a:solidFill>
                  <a:srgbClr val="1E1E1E"/>
                </a:solidFill>
                <a:latin typeface="Malgun Gothic"/>
              </a:rPr>
              <a:t>스크립트: E:/samsung/Dataset/no_filename_extra_eval.py</a:t>
            </a:r>
          </a:p>
          <a:p>
            <a:pPr/>
            <a:r>
              <a:rPr sz="1600">
                <a:solidFill>
                  <a:srgbClr val="1E1E1E"/>
                </a:solidFill>
                <a:latin typeface="Malgun Gothic"/>
              </a:rPr>
              <a:t>스크립트: E:/samsung/Dataset/no_filename_transductive.py</a:t>
            </a:r>
          </a:p>
          <a:p>
            <a:pPr/>
            <a:r>
              <a:rPr sz="1600">
                <a:solidFill>
                  <a:srgbClr val="1E1E1E"/>
                </a:solidFill>
                <a:latin typeface="Malgun Gothic"/>
              </a:rPr>
              <a:t>리포트: E:/samsung/Dataset/runs/no_filename_eval/final_no_filename_report.md</a:t>
            </a:r>
          </a:p>
          <a:p>
            <a:pPr/>
            <a:r>
              <a:rPr sz="1600">
                <a:solidFill>
                  <a:srgbClr val="1E1E1E"/>
                </a:solidFill>
                <a:latin typeface="Malgun Gothic"/>
              </a:rPr>
              <a:t>리포트: E:/samsung/Dataset/runs/no_filename_transductive/transductive_report.md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